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70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9.png"/><Relationship Id="rId4" Type="http://schemas.openxmlformats.org/officeDocument/2006/relationships/image" Target="../media/image14.png"/><Relationship Id="rId9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2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7A3D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4297680"/>
            <a:ext cx="3108960" cy="3108960"/>
          </a:xfrm>
          <a:prstGeom prst="ellipse">
            <a:avLst/>
          </a:prstGeom>
          <a:solidFill>
            <a:srgbClr val="0FB5A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4F1CB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7A3DFF"/>
          </a:solidFill>
          <a:ln/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636776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MRLC LMS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Refugee Learning Centre — Learning Management System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8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run the whole school — students, teaching, exams, library, fees, welfare and reporting.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507492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0749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39696" y="507492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39696" y="5074920"/>
            <a:ext cx="1344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48456" y="5074920"/>
            <a:ext cx="864108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48456" y="5074920"/>
            <a:ext cx="86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77156" y="507492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77156" y="5074920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897880" y="5074920"/>
            <a:ext cx="768096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97880" y="5074920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30568" y="5074920"/>
            <a:ext cx="864108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30568" y="5074920"/>
            <a:ext cx="86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859268" y="507492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2A1A5E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859268" y="5074920"/>
            <a:ext cx="10561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7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 · Express · PostgreSQL · Prisma  ·  runs as one server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single-school LMS for MRLC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records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info, attendance, marks and fees lived across paper registers, spreadsheets and notebooks — hard to find, easy to lose.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1671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299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people, right access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9672" y="271576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teachers, accountants, case workers and librarians each see only what their job needs — nothing more.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3159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Everyday work, faster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" y="48646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attendance, run an exam, record a payment or borrow a book in a few clicks instead of manual paperwork.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967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3159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788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from real data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19672" y="48646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and printable reports turn daily activity into attendance trends, results and fee status at a glance.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the school needs, in one place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MRLC LMS replaces a stack of registers and spreadsheets with a single secure web app. Staff log in from any browser; one Node/Express server serves the app and a PostgreSQL database keeps every record consistent and searchable.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modules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2514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38728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FB5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38728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37376" y="2514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437376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report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36024" y="2514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36024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336024" y="34472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login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6112" y="45994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727448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00200" y="4590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in any browser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96112" y="5276088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an app (PWA) with an offline page — no software to install on each computer.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89120" y="43434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45152" y="45994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727448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49240" y="4590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645152" y="5276088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passwords, role checks on the server, rate-limiting and a full audit trail of changes.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38160" y="43434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394192" y="45994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4727448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098280" y="4590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Made to fit MRLC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394192" y="5276088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name, logo, colours and system options are all configurable from Settings.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app, every part of school life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299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488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830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538728" y="17830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721608" y="20299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1488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79976" y="17830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37376" y="17830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620256" y="20299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128" y="21488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78624" y="17830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336024" y="178308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518904" y="20299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776" y="214884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177272" y="178308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40080" y="30632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22960" y="3310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342900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81328" y="306324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Timetable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3538728" y="30632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3721608" y="3310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3429000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379976" y="306324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437376" y="30632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620256" y="3310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9128" y="3429000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278624" y="306324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9336024" y="306324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4"/>
          <p:cNvSpPr/>
          <p:nvPr/>
        </p:nvSpPr>
        <p:spPr>
          <a:xfrm>
            <a:off x="9518904" y="331012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4F1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776" y="3429000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0177272" y="306324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640080" y="43434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822960" y="459028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832" y="4709160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481328" y="434340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E-Library</a:t>
            </a:r>
            <a:endParaRPr lang="en-US" sz="1350" dirty="0"/>
          </a:p>
        </p:txBody>
      </p:sp>
      <p:sp>
        <p:nvSpPr>
          <p:cNvPr id="40" name="Shape 29"/>
          <p:cNvSpPr/>
          <p:nvPr/>
        </p:nvSpPr>
        <p:spPr>
          <a:xfrm>
            <a:off x="3538728" y="43434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0"/>
          <p:cNvSpPr/>
          <p:nvPr/>
        </p:nvSpPr>
        <p:spPr>
          <a:xfrm>
            <a:off x="3721608" y="459028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0" y="4709160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379976" y="434340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Lessons</a:t>
            </a:r>
            <a:endParaRPr lang="en-US" sz="1350" dirty="0"/>
          </a:p>
        </p:txBody>
      </p:sp>
      <p:sp>
        <p:nvSpPr>
          <p:cNvPr id="44" name="Shape 32"/>
          <p:cNvSpPr/>
          <p:nvPr/>
        </p:nvSpPr>
        <p:spPr>
          <a:xfrm>
            <a:off x="6437376" y="43434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3"/>
          <p:cNvSpPr/>
          <p:nvPr/>
        </p:nvSpPr>
        <p:spPr>
          <a:xfrm>
            <a:off x="6620256" y="459028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9128" y="4709160"/>
            <a:ext cx="292608" cy="292608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278624" y="434340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Catalog</a:t>
            </a:r>
            <a:endParaRPr lang="en-US" sz="1350" dirty="0"/>
          </a:p>
        </p:txBody>
      </p:sp>
      <p:sp>
        <p:nvSpPr>
          <p:cNvPr id="48" name="Shape 35"/>
          <p:cNvSpPr/>
          <p:nvPr/>
        </p:nvSpPr>
        <p:spPr>
          <a:xfrm>
            <a:off x="9336024" y="434340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6"/>
          <p:cNvSpPr/>
          <p:nvPr/>
        </p:nvSpPr>
        <p:spPr>
          <a:xfrm>
            <a:off x="9518904" y="459028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7776" y="4709160"/>
            <a:ext cx="292608" cy="29260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10177272" y="434340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Fees</a:t>
            </a:r>
            <a:endParaRPr lang="en-US" sz="1350" dirty="0"/>
          </a:p>
        </p:txBody>
      </p:sp>
      <p:sp>
        <p:nvSpPr>
          <p:cNvPr id="52" name="Shape 38"/>
          <p:cNvSpPr/>
          <p:nvPr/>
        </p:nvSpPr>
        <p:spPr>
          <a:xfrm>
            <a:off x="640080" y="56235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39"/>
          <p:cNvSpPr/>
          <p:nvPr/>
        </p:nvSpPr>
        <p:spPr>
          <a:xfrm>
            <a:off x="822960" y="587044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1832" y="5989320"/>
            <a:ext cx="292608" cy="292608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1481328" y="56235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Cases</a:t>
            </a:r>
            <a:endParaRPr lang="en-US" sz="1350" dirty="0"/>
          </a:p>
        </p:txBody>
      </p:sp>
      <p:sp>
        <p:nvSpPr>
          <p:cNvPr id="56" name="Shape 41"/>
          <p:cNvSpPr/>
          <p:nvPr/>
        </p:nvSpPr>
        <p:spPr>
          <a:xfrm>
            <a:off x="3538728" y="56235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2"/>
          <p:cNvSpPr/>
          <p:nvPr/>
        </p:nvSpPr>
        <p:spPr>
          <a:xfrm>
            <a:off x="3721608" y="587044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40480" y="5989320"/>
            <a:ext cx="292608" cy="292608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4379976" y="56235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Announcements</a:t>
            </a:r>
            <a:endParaRPr lang="en-US" sz="1350" dirty="0"/>
          </a:p>
        </p:txBody>
      </p:sp>
      <p:sp>
        <p:nvSpPr>
          <p:cNvPr id="60" name="Shape 44"/>
          <p:cNvSpPr/>
          <p:nvPr/>
        </p:nvSpPr>
        <p:spPr>
          <a:xfrm>
            <a:off x="6437376" y="56235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5"/>
          <p:cNvSpPr/>
          <p:nvPr/>
        </p:nvSpPr>
        <p:spPr>
          <a:xfrm>
            <a:off x="6620256" y="587044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9128" y="5989320"/>
            <a:ext cx="292608" cy="292608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7278624" y="56235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&amp; Roles</a:t>
            </a:r>
            <a:endParaRPr lang="en-US" sz="1350" dirty="0"/>
          </a:p>
        </p:txBody>
      </p:sp>
      <p:sp>
        <p:nvSpPr>
          <p:cNvPr id="64" name="Shape 47"/>
          <p:cNvSpPr/>
          <p:nvPr/>
        </p:nvSpPr>
        <p:spPr>
          <a:xfrm>
            <a:off x="9336024" y="5623560"/>
            <a:ext cx="2606040" cy="1024128"/>
          </a:xfrm>
          <a:prstGeom prst="roundRect">
            <a:avLst>
              <a:gd name="adj" fmla="val 7143"/>
            </a:avLst>
          </a:prstGeom>
          <a:solidFill>
            <a:srgbClr val="F7F5FF"/>
          </a:solidFill>
          <a:ln w="12700">
            <a:solidFill>
              <a:srgbClr val="E7E1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48"/>
          <p:cNvSpPr/>
          <p:nvPr/>
        </p:nvSpPr>
        <p:spPr>
          <a:xfrm>
            <a:off x="9518904" y="587044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6B64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37776" y="5989320"/>
            <a:ext cx="292608" cy="292608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10177272" y="56235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Settings</a:t>
            </a:r>
            <a:endParaRPr lang="en-US" sz="1350" dirty="0"/>
          </a:p>
        </p:txBody>
      </p:sp>
      <p:sp>
        <p:nvSpPr>
          <p:cNvPr id="68" name="Text 5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&amp;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Seven roles — everyone sees just their part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controlled on the server by role. The sidebar, pages and actions a person can use are decided by who they are.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786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41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1272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the whole system — people, academics, settings and audit.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19456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45152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57860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441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5152" y="31272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classes, attendance, exams, lessons and class reports.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94192" y="245059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57860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4414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94192" y="312724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timetable, exams, results, fees, library and videos.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160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6112" y="44165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54456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407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96112" y="509320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dashboard, payments and receipts.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9120" y="4160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45152" y="44165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54456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4407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Worker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45152" y="509320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welfare cases, notes and follow-up.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38160" y="416052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94192" y="44165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54456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4407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Librarian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94192" y="5093208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book catalog, borrowing and the e-library.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40080" y="61996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general Staff role for additional non-teaching users.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&amp; ACADEMICS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Students, teachers, classes &amp; subjects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records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profiles with photo, guardian and contact details, enrolment, documents, and links to attendance, results and fees. Bulk-add students by CSV import.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1671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2996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 profiles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9672" y="271576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records with the classes and subjects each teacher is assigned to, plus their own dashboard and reports.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3159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" y="48646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students into classes, assign teachers and subjects, and view a class profile with its roster and performance.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967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3159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1788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Subjects &amp; timetable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19672" y="48646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subjects, link them to teachers, and lay out a weekly timetable that students and teachers can see.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attendance, captured in seconds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13232" cy="713232"/>
          </a:xfrm>
          <a:prstGeom prst="ellipse">
            <a:avLst/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96696" y="2578608"/>
            <a:ext cx="0" cy="310896"/>
          </a:xfrm>
          <a:prstGeom prst="line">
            <a:avLst/>
          </a:prstGeom>
          <a:noFill/>
          <a:ln w="25400">
            <a:solidFill>
              <a:srgbClr val="7A3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class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opens 'Take Attendance' for their class and date.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713232" cy="713232"/>
          </a:xfrm>
          <a:prstGeom prst="ellipse">
            <a:avLst/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6696" y="3657600"/>
            <a:ext cx="0" cy="310896"/>
          </a:xfrm>
          <a:prstGeom prst="line">
            <a:avLst/>
          </a:prstGeom>
          <a:noFill/>
          <a:ln w="25400">
            <a:solidFill>
              <a:srgbClr val="7A3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each student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2918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Present, Absent, Late or Excused down the roster.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713232" cy="713232"/>
          </a:xfrm>
          <a:prstGeom prst="ellipse">
            <a:avLst/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9867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96696" y="4736592"/>
            <a:ext cx="0" cy="310896"/>
          </a:xfrm>
          <a:prstGeom prst="line">
            <a:avLst/>
          </a:prstGeom>
          <a:noFill/>
          <a:ln w="25400">
            <a:solidFill>
              <a:srgbClr val="7A3D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once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3708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save records the whole class to the database.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65776"/>
            <a:ext cx="713232" cy="713232"/>
          </a:xfrm>
          <a:prstGeom prst="ellipse">
            <a:avLst/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0657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084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the trends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54498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get attendance reports and rates per class and student.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182880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attendance states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0" y="26974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825496"/>
            <a:ext cx="292608" cy="29260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45236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05256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as expected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66560" y="34747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3602736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45236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Absent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05256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class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766560" y="4251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4379976"/>
            <a:ext cx="292608" cy="29260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452360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905256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after start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766560" y="5029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5157216"/>
            <a:ext cx="292608" cy="292608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452360" y="5029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Excused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905256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approved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EXAMS &amp;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exams, students take them online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exam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create quizzes, midterms, finals or mock exams and add questions of many types.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671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sit 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71576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take exams on screen; answers are captured per attempt.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9419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1671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Marking &amp; results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715768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questions can be auto-checked; results roll up into each student's record.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 types supported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40080" y="4160520"/>
            <a:ext cx="1938528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80" y="416052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2743200" y="4160520"/>
            <a:ext cx="1642262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2743200" y="4160520"/>
            <a:ext cx="1642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50054" y="4160520"/>
            <a:ext cx="1642262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550054" y="4160520"/>
            <a:ext cx="1642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356909" y="4160520"/>
            <a:ext cx="950976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356909" y="4160520"/>
            <a:ext cx="950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472477" y="4160520"/>
            <a:ext cx="1148486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472477" y="4160520"/>
            <a:ext cx="11484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785555" y="4160520"/>
            <a:ext cx="2432304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8785555" y="416052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GED: Reasoning (RLA)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40080" y="4764024"/>
            <a:ext cx="1345997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40080" y="4764024"/>
            <a:ext cx="13459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GED: Math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2150669" y="4764024"/>
            <a:ext cx="1642262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2150669" y="4764024"/>
            <a:ext cx="16422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GED: Science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3957523" y="4764024"/>
            <a:ext cx="2333549" cy="475488"/>
          </a:xfrm>
          <a:prstGeom prst="roundRect">
            <a:avLst>
              <a:gd name="adj" fmla="val 50000"/>
            </a:avLst>
          </a:prstGeom>
          <a:solidFill>
            <a:srgbClr val="F7F5FF"/>
          </a:solidFill>
          <a:ln w="12700">
            <a:solidFill>
              <a:srgbClr val="7A3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3957523" y="4764024"/>
            <a:ext cx="233354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GED: Social Studies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the GED curriculum in mind — question types map to the exam subjects MRLC students prepare for.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library, e-books &amp; video lessons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762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3042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library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852928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 of learning resources teachers share with students, organised and searchable in-app.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1762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3042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1671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E-Library reader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852928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e-books and read them in a built-in reader — no downloads, available to students and teachers.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5661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94192" y="21762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3042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1671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lessons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852928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post video lessons students can watch any time to review or catch up on material.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reach all three from their own menu — learning continues outside class hours.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— PHYSICAL BOOKS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catalog &amp; borrowing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Catalog the collection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Librarians add every physical book with its details, so the whole collection is searchable.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671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Lend &amp; return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71576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book to a borrower and record returns — the loan status updates automatically.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9419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1671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overdue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715768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show as Borrowed, Returned or Overdue so nothing goes missing.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 lifecycle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40080" y="466344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4008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BORROWED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2926080" y="4663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480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3383280" y="466344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38328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RETURNED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669280" y="46634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6480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6126480" y="466344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12648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OVERDUE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FEES &amp; 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Fees, payments &amp; receipts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Fees dashboard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see who has paid, who is pending and total collection at a glance.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64408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96112" y="35204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648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5112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a payment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96112" y="4197096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payment against a student and generate a printable receipt instantly.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745736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500176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512978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9926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Per-student profile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96112" y="5678424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has a fee profile and history; students can view their own fees.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58000" y="1783080"/>
            <a:ext cx="46634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13232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fee has a clear status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7132320" y="269748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281635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269748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26880" y="26974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in full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132320" y="3456432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192" y="357530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18120" y="345643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326880" y="34564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payment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132320" y="4215384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1192" y="433425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818120" y="421538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OVERDUE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9326880" y="42153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due date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7132320" y="4974336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1192" y="5093208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18120" y="497433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WAIVED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9326880" y="49743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Excused / scholarship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WELFARE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management for student support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MRLC serves a refugee community, so welfare matters as much as academics. Case workers log support cases, add follow-up notes, set priority and track each case to resolution.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529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715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a case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4015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case linked to a student with the details of the situation.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47288" y="24688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703320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285292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07408" y="2715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case notes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03320" y="34015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updates and follow-up over time, building a full history.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4496" y="24688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10528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85292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14616" y="2715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priority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10528" y="34015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Low to Urgent, so the most pressing needs surface first.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61704" y="246888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317736" y="27249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5752" y="285292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21824" y="2715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to close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17736" y="3401568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Open, In Progress, Resolved and Closed.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levels: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2377440" y="4846320"/>
            <a:ext cx="786384" cy="457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377440" y="484632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392424" y="4846320"/>
            <a:ext cx="1115568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392424" y="48463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736592" y="4846320"/>
            <a:ext cx="896112" cy="457200"/>
          </a:xfrm>
          <a:prstGeom prst="roundRect">
            <a:avLst>
              <a:gd name="adj" fmla="val 50000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736592" y="484632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861304" y="4846320"/>
            <a:ext cx="1115568" cy="457200"/>
          </a:xfrm>
          <a:prstGeom prst="roundRect">
            <a:avLst>
              <a:gd name="adj" fmla="val 50000"/>
            </a:avLst>
          </a:prstGeom>
          <a:solidFill>
            <a:srgbClr val="4F1C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5861304" y="484632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URGENT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 &amp;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Announcements and a full reporting suite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037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Announcements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and teachers post notices that the right people see on their dashboard — keeping the whole school informed about events, deadlines and changes.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1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edit · target by role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printable reports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754880" y="23317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56048" y="2587752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0662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3317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83880" y="233172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85048" y="2587752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70662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3317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 results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754880" y="3538728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56048" y="379476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9136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5387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183880" y="3538728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8385048" y="3794760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391363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53872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performance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754880" y="4745736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956048" y="50017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5120640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623560" y="4745736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summary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8183880" y="4745736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8385048" y="5001768"/>
            <a:ext cx="530352" cy="530352"/>
          </a:xfrm>
          <a:prstGeom prst="roundRect">
            <a:avLst>
              <a:gd name="adj" fmla="val 1379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5120640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52560" y="4745736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profile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A3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controls &amp; school configuration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16712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&amp; roles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71576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accounts, assign roles and enable or disable access.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16712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Branding &amp; settings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71576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school name, logo, colours and system options to fit MRLC.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94192" y="20391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16712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0299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271576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timestamped trail of who changed what, for accountability.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3159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178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data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486460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records out of the system when needed.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4515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31596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178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 &amp; restore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5152" y="486460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with backups and restore if something goes wrong.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1F7"/>
            </a:solidFill>
            <a:prstDash val="solid"/>
          </a:ln>
          <a:effectLst>
            <a:outerShdw blurRad="114300" dist="38100" dir="5400000" algn="bl" rotWithShape="0">
              <a:srgbClr val="1E124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94192" y="41879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31596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1788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settings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94192" y="486460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how the system behaves from one settings area.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2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7A3D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RELIABILITY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be trusted with student data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2A1A5E"/>
          </a:solidFill>
          <a:ln w="12700">
            <a:solidFill>
              <a:srgbClr val="453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0848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FB5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1284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75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logins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27614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hashed with bcrypt; sessions use signed tokens (JWT).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2A1A5E"/>
          </a:solidFill>
          <a:ln w="12700">
            <a:solidFill>
              <a:srgbClr val="453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45152" y="20848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1284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075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Server-side role checks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45152" y="27614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permission-checked on the server, not just hidden in the menu.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2A1A5E"/>
          </a:solidFill>
          <a:ln w="12700">
            <a:solidFill>
              <a:srgbClr val="453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94192" y="208483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5C7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21284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2075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Hardened server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94192" y="276148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headers, CORS and rate-limiting guard against common attacks.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2A1A5E"/>
          </a:solidFill>
          <a:ln w="12700">
            <a:solidFill>
              <a:srgbClr val="453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6112" y="42336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36168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224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96112" y="49103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changes are logged so activity can always be reviewed.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89120" y="3977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2A1A5E"/>
          </a:solidFill>
          <a:ln w="12700">
            <a:solidFill>
              <a:srgbClr val="453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45152" y="42336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361688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4224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Offline-ready (PWA)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45152" y="49103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an app with an offline page for unreliable connections.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38160" y="3977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2A1A5E"/>
          </a:solidFill>
          <a:ln w="12700">
            <a:solidFill>
              <a:srgbClr val="453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94192" y="423367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361688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98280" y="422452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logging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94192" y="49103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activity and errors are logged cleanly for troubleshooting.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2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0FB5A6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-1463040"/>
            <a:ext cx="4023360" cy="4023360"/>
          </a:xfrm>
          <a:prstGeom prst="ellipse">
            <a:avLst/>
          </a:prstGeom>
          <a:solidFill>
            <a:srgbClr val="7A3D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B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login to run the whole school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6151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505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paperwork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marks, fees and books move off paper into one searchable system.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57530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10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access for everyone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9164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roles mean each person works in a focused, safe view of their own tasks.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43891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53542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370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Academics and welfare together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69164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and library sit beside fees and student-support cases — the whole child.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22960" y="53492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7A3D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495544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5330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picture, any day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1691640" y="5715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and printable reports turn daily activity into decisions.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8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MRLC LMS — built for the Mon Refugee Learning Centre. Open http://localhost:8000 and sign in to begin.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1467</Words>
  <Application>Microsoft Macintosh PowerPoint</Application>
  <PresentationFormat>Widescreen</PresentationFormat>
  <Paragraphs>262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MRLC LMS — Feature Overview</dc:title>
  <dc:subject>PptxGenJS Presentation</dc:subject>
  <dc:creator>MRLC LMS</dc:creator>
  <cp:lastModifiedBy>Tao Mon Lae</cp:lastModifiedBy>
  <cp:revision>1</cp:revision>
  <dcterms:created xsi:type="dcterms:W3CDTF">2026-06-18T07:58:40Z</dcterms:created>
  <dcterms:modified xsi:type="dcterms:W3CDTF">2026-06-18T08:05:25Z</dcterms:modified>
</cp:coreProperties>
</file>